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194560" cy="82296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Embeddings de subgrafos urbanos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FF6B4A"/>
                </a:solidFill>
                <a:latin typeface="Calibri"/>
              </a:rPr>
              <a:t>3 tecnicas recientes · proyectadas en el UMAP de la pagina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380"/>
                </a:solidFill>
                <a:latin typeface="Calibri"/>
              </a:rPr>
              <a:t>Como convertir cada subgrafo de la red vial en un vector y verlo en 2-D.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6B4A"/>
                </a:solidFill>
                <a:latin typeface="Calibri"/>
              </a:rPr>
              <a:t>■  GL2Vec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4A90D9"/>
                </a:solidFill>
                <a:latin typeface="Calibri"/>
              </a:rPr>
              <a:t>■  FEATHER-G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3FB680"/>
                </a:solidFill>
                <a:latin typeface="Calibri"/>
              </a:rPr>
              <a:t>■  DHC-E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8B5CF6"/>
                </a:solidFill>
                <a:latin typeface="Calibri"/>
              </a:rPr>
              <a:t>■  GCN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A90D9"/>
                </a:solidFill>
                <a:latin typeface="Calibri"/>
              </a:rPr>
              <a:t>preprocess_hotspots.py · embed_subgraphs.py · components/UmapPanel.tsx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Por que embeddings de subgrafos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El pipeline genera, por mes, las top-20 cuencas (subgrafos) de concentracion criminal sobre la red vial de Chicago.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Para responder '¿que zonas se parecen?' necesitamos describir cada subgrafo con un vector comparable.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Un embedding de grafo completo (whole-graph) resume la forma de la sub-red vial en un vector de longitud fija.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UMAP reduce ese vector a 2-D: subgrafos parecidos quedan cerca en el scatter.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•  Clave de diseño: el crimen NO entra al embedding. Asi 'vecinos con criminalidad distinta' es un hallazgo, no algo impuesto.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5029200" cy="3931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6B4A"/>
                </a:solidFill>
                <a:latin typeface="Calibri"/>
              </a:rPr>
              <a:t>De subgrafo a punto 2-D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sub-red vial del basin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descriptor de grafo (vector)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  (4 tecnicas distintas)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GL2Vec · FEATHER · DHC-E · GCN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UMAP → [x, y] en [0,1]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380"/>
                </a:solidFill>
                <a:latin typeface="Calibri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punto en el panel UMAP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MARCO COMUN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Mismo esqueleto, 3 descriptores distintos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Calibri"/>
              </a:rPr>
              <a:t>sub-red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Calibri"/>
              </a:rPr>
              <a:t>vial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2103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1965960" cy="118872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011680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descriptor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(tecnica)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103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1965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011680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Calibri"/>
              </a:rPr>
              <a:t>z-score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Calibri"/>
              </a:rPr>
              <a:t>(estandarizar)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103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1828800"/>
            <a:ext cx="1965960" cy="11887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011680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UMAP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(cosine)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210312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6B738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828800"/>
            <a:ext cx="1965960" cy="1188720"/>
          </a:xfrm>
          <a:prstGeom prst="roundRect">
            <a:avLst/>
          </a:prstGeom>
          <a:solidFill>
            <a:srgbClr val="3FB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011680"/>
            <a:ext cx="1783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[x, y]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 [0,1]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Lo unico que cambia entre las 4 tecnicas es como se construye el descriptor del subgrafo.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El resto es identico: estandarizacion por columna, UMAP (n_neighbors=15, min_dist=0.1, metric=cosine, random_state=42) y escalado min-max a [0,1].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Las 4 dan un vector por subgrafo (whole-graph): invariantes a permutacion y comparables entre subgrafos de distinto tamaño.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Implementadas self-contained (numpy / networkx / gensim), sin karateclub (incompatible con Python 3.13).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Si umap-learn falta, hay fallback a PCA(2); si gensim falta, GL2Vec cae a una traza NetLSD.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TECNICA 1 · GL2Vec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GL2Vec — line graph + features de aristas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841248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6B4A"/>
                </a:solidFill>
                <a:latin typeface="Calibri"/>
              </a:rPr>
              <a:t>PAPER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Chen, H. &amp; Koga, H. (2019). GL2vec: Graph Embedding Enriched by Line Graphs with Edge Features. ICONIP 2019, LNCS 11953, pp. 3-14.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LA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Extiende graph2vec, que solo mira los NODOS del grafo.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Embebe tambien el line graph L(G): cada arista (segmento vial) se vuelve un nodo; dos segmentos son adyacentes si comparten una interseccion.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El vector del subgrafo = concatenacion de graph2vec(G) y graph2vec(L(G)).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L(G) expone la estructura que vive en las aristas (como encadenan los segmentos), que graph2vec pierde.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COMO LO IMPLEMENTAMOS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Subgrafo inducido G y su nx.line_graph(G).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Documentos Weisfeiler-Lehman (WL-2) de G y de L(G), con vocabularios separados.</a:t>
            </a:r>
          </a:p>
          <a:p>
            <a:pPr lvl="1"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–  2 modelos Doc2Vec (PV-DBOW, 32-D c/u) → hstack = firma 64-D.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Variante estructural (etiqueta = grado): la clase de via por-arista no se guarda por separado.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QUE CAPTURA / FORTALEZA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406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Aprende motivos recurrentes de la sub-red (cruces en T, fondos de saco) a lo largo de todo el corpus de 480 subgrafos.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Sensible a la organizacion de los segmentos, no solo de las intersecciones.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TECNICA 2 · FEATHER-G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FEATHER-G — funciones caracteristicas sobre random walks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841248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A90D9"/>
                </a:solidFill>
                <a:latin typeface="Calibri"/>
              </a:rPr>
              <a:t>PAPER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Rozemberczki, B. &amp; Sarkar, R. (2020). Characteristic Functions on Graphs: Birds of a Feather, from Statistical Descriptors to Parametric Models. CIKM 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LA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Describe la DISTRIBUCION de un feature de nodo (aqui el grado) a varias escalas.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Usa la funcion caracteristica E[e^{iθx}] evaluada sobre las probabilidades de transicion de random walks de r pasos.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Parte real e imaginaria por nodo → se agrupan (pooling por media) en un descriptor del grafo.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Determinista (sin entrenamiento) y se prueba que da el mismo vector a grafos isomorfos.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COMO LO IMPLEMENTAMOS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P = D⁻¹A (matriz de transicion). Escalas r = 1..5.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5 puntos de evaluacion θ; por nodo: P^r·cos(θx) y P^r·sin(θx).</a:t>
            </a:r>
          </a:p>
          <a:p>
            <a:pPr lvl="1"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–  Pooling por media → firma de 2·5·5 = 50-D.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Basins sin aristas: se usa la funcion caracteristica de x directamente.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QUE CAPTURA / FORTALEZA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406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Resume como se difunde la estructura del vecindario a distintas distancias.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Robusto a corrupcion de datos; rapido y sin hiperparametros que ajustar (salvo escalas/θ).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680"/>
                </a:solidFill>
                <a:latin typeface="Calibri"/>
              </a:rPr>
              <a:t>TECNICA 3 · DHC-E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DHC-E — Grado → H-index → Coreness + entropia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841248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FB680"/>
                </a:solidFill>
                <a:latin typeface="Calibri"/>
              </a:rPr>
              <a:t>PAPER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Wang, H., Deng, Y., Lu, L. &amp; Chen, G. (2022). Hyperparameter-free and Explainable Whole Graph Embedding. arXiv:2108.02113.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680"/>
                </a:solidFill>
                <a:latin typeface="Calibri"/>
              </a:rPr>
              <a:t>LA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Itera el operador DHC: el valor de cada nodo se reemplaza por el H-index de los valores de sus vecinos.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Por el teorema DHC, la cadena Grado → H-index → … converge a la Coreness del nodo.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En cada iteracion se mide la entropia de Shannon del histograma de valores.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El embedding es la secuencia de entropias [E0, E1, …]: sin hiperparametros y explicable.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680"/>
                </a:solidFill>
                <a:latin typeface="Calibri"/>
              </a:rPr>
              <a:t>COMO LO IMPLEMENTAMOS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Iteracion 0 = grado de cada nodo del subgrafo.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Se itera el H-index hasta el punto fijo (coreness).</a:t>
            </a:r>
          </a:p>
          <a:p>
            <a:pPr lvl="1"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–  Entropia normalizada por iteracion → secuencia padded a 16-D.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Es la tecnica mas barata: solo grados y H-index, sin algebra lineal.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B680"/>
                </a:solidFill>
                <a:latin typeface="Calibri"/>
              </a:rPr>
              <a:t>QUE CAPTURA / FORTALEZA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406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Resume la jerarquia de centralidad/coreness del subgrafo en pocas cifras interpretables.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Cada dimension tiene significado (entropia en el nivel t de la cadena).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TECNICA 4 · GCN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GCN — convolucion de grafo (modulo espacial ST-GCN)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841248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PAPER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Modulo espacial de Fan, Y.; Hu, X.; Hu, J. (2025). Research on a Crime Spatiotemporal Prediction Method Integrating Informer and ST-GCN: A Case Study of Four Crime Types in Chicago. Big Data Cogn. Comput. 9(7), 179. GCN: Kipf &amp; Welling, ICLR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LA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El paper predice crimen en Chicago combinando Informer (tiempo) y ST-GCN (espacio).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Su modulo espacial embebe los nodos del grafo con una GCN (Kipf &amp; Welling).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Cada capa: H' = ReLU( D̃^(-1/2)(A+I)D̃^(-1/2) · H · W ): cada nodo mezcla los features de sus vecinos por la adyacencia normalizada.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•  Apilar capas da a cada nodo un embedding de su vecindario a k saltos.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COMO LO IMPLEMENTAMOS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Adyacencia normalizada simetrica con auto-bucles; 2 capas (receptivo de 2 saltos).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Features de nodo solo estructurales: [1, grado, log(1+grado)].</a:t>
            </a:r>
          </a:p>
          <a:p>
            <a:pPr lvl="1"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–  Mean-pooling de los nodos → descriptor de 16-D por subgrafo.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GCN SIN entrenar (pesos aleatorios fijos): el crimen no puede formar el layout, asi que la usamos como extractor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QUE CAPTURA / FORTALEZA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406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Difusion del vecindario por la adyacencia normalizada: estructura local a k saltos.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•  Es la unica de las 4 basada en GNN; conecta directamente con el paper de prediccion.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B4A"/>
                </a:solidFill>
                <a:latin typeface="Calibri"/>
              </a:rPr>
              <a:t>COMPARACION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Las 3 tecnicas, lado a lado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92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423160"/>
                <a:gridCol w="2423160"/>
                <a:gridCol w="2423160"/>
                <a:gridCol w="2423160"/>
              </a:tblGrid>
              <a:tr h="4978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GL2Vec</a:t>
                      </a:r>
                    </a:p>
                  </a:txBody>
                  <a:tcPr marL="64008" marR="45720" marT="27432" marB="27432">
                    <a:solidFill>
                      <a:srgbClr val="FF6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FEATHER-G</a:t>
                      </a:r>
                    </a:p>
                  </a:txBody>
                  <a:tcPr marL="64008" marR="45720" marT="27432" marB="27432">
                    <a:solidFill>
                      <a:srgbClr val="4A9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DHC-E</a:t>
                      </a:r>
                    </a:p>
                  </a:txBody>
                  <a:tcPr marL="64008" marR="45720" marT="27432" marB="27432">
                    <a:solidFill>
                      <a:srgbClr val="3FB6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GCN</a:t>
                      </a:r>
                    </a:p>
                  </a:txBody>
                  <a:tcPr marL="64008" marR="45720" marT="27432" marB="27432">
                    <a:solidFill>
                      <a:srgbClr val="8B5CF6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Paradigma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Aprendido (Doc2Vec)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Estadistico (random walk)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Jerarquico (grado/entropia)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GNN (conv. de grafo)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Entrada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G + line graph L(G)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Feature nodo + P=D⁻¹A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Cadena Grado→H-index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Â=D̃^-½(A+I)D̃^-½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¿Aprende?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 (corpus completo)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No (deterministico)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No (deterministico)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No (pesos fijos)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Invariante iso.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 (WL)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 (demostrado)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 (equivariante)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Dim. descriptor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64-D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50-D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16-D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16-D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Coste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Medio (Doc2Vec)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Bajo-medio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Muy bajo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Fuerte en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Motivos de segmentos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Difusion multi-escala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Jerarquia / explicab.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Vecindario a k saltos</a:t>
                      </a:r>
                    </a:p>
                  </a:txBody>
                  <a:tcPr marL="64008" marR="45720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Limite</a:t>
                      </a:r>
                    </a:p>
                  </a:txBody>
                  <a:tcPr marL="64008" marR="45720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Necesita gensim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Eleccion de escalas/θ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Solo grado como señal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Sin entrenar; solo grado</a:t>
                      </a:r>
                    </a:p>
                  </a:txBody>
                  <a:tcPr marL="64008" marR="45720" marT="27432" marB="2743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HDBSCAN sobre cada UMAP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Para CADA tecnica corremos HDBSCAN sobre su propio layout 2-D del UMAP.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HDBSCAN agrupa por densidad: no fija el numero de clusters y marca como 'ruido' los puntos que no caen en ninguna region densa.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Clusterizar sobre el mismo 2-D que se ve garantiza que los colores pintados coincidan con los grupos visibles en el scatter.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Parametros: min_cluster_size = 8, min_samples = 4 (sklearn.cluster.HDBSCAN).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En la pagina: boton de color 'Clusteres' -&gt; cada punto se pinta por su cluster; el ruido queda en gris.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Calibri"/>
              </a:rPr>
              <a:t>•  Cada tecnica produce su propia particion: comparar las 4 muestra que 'grupos de subgrafos parecidos' depende del descriptor.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5029200" cy="3931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B5CF6"/>
                </a:solidFill>
                <a:latin typeface="Calibri"/>
              </a:rPr>
              <a:t>Clusteres encontrados (480 subgrafos)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606040"/>
            <a:ext cx="292608" cy="292608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5694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GL2Vec:  </a:t>
            </a:r>
            <a:r>
              <a:rPr sz="1400">
                <a:solidFill>
                  <a:srgbClr val="6B7380"/>
                </a:solidFill>
                <a:latin typeface="Calibri"/>
              </a:rPr>
              <a:t>8 clusteres · 0 ruido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172968"/>
            <a:ext cx="292608" cy="292608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1363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FEATHER-G:  </a:t>
            </a:r>
            <a:r>
              <a:rPr sz="1400">
                <a:solidFill>
                  <a:srgbClr val="6B7380"/>
                </a:solidFill>
                <a:latin typeface="Calibri"/>
              </a:rPr>
              <a:t>14 clusteres · 25 ruido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739896"/>
            <a:ext cx="292608" cy="292608"/>
          </a:xfrm>
          <a:prstGeom prst="roundRect">
            <a:avLst/>
          </a:prstGeom>
          <a:solidFill>
            <a:srgbClr val="3FB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703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DHC-E:  </a:t>
            </a:r>
            <a:r>
              <a:rPr sz="1400">
                <a:solidFill>
                  <a:srgbClr val="6B7380"/>
                </a:solidFill>
                <a:latin typeface="Calibri"/>
              </a:rPr>
              <a:t>10 clusteres · 8 ruido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306824"/>
            <a:ext cx="292608" cy="29260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4270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GCN:  </a:t>
            </a:r>
            <a:r>
              <a:rPr sz="1400">
                <a:solidFill>
                  <a:srgbClr val="6B7380"/>
                </a:solidFill>
                <a:latin typeface="Calibri"/>
              </a:rPr>
              <a:t>21 clusteres · 18 ruido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380"/>
                </a:solidFill>
                <a:latin typeface="Calibri"/>
              </a:rPr>
              <a:t>Mas clusteres/ruido = la tecnica separa los subgrafos en grupos mas finos.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2194560" cy="82296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En la pagina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6B4A"/>
                </a:solidFill>
                <a:latin typeface="Calibri"/>
              </a:rPr>
              <a:t>Selector del panel UMAP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9CED6"/>
                </a:solidFill>
                <a:latin typeface="Calibri"/>
              </a:rPr>
              <a:t>Cuatro botones — GL2Vec / FEATHER / DHC-E / GCN — cambian el espacio del scatter. Cada subgrafo se reposiciona segun la tecnica elegida (campos embedGL2Vec / embedFeather / embedDHCE / embedGCN en hotspots.json).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FF6B4A"/>
                </a:solidFill>
                <a:latin typeface="Calibri"/>
              </a:rPr>
              <a:t>Como leerlo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9CED6"/>
                </a:solidFill>
                <a:latin typeface="Calibri"/>
              </a:rPr>
              <a:t>Color por tipo de delito, por numero de delitos o por cluster HDBSCAN. Como el crimen no forma el layout, ver dos zonas parecidas con criminalidad distinta es un hallazgo real.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FF6B4A"/>
                </a:solidFill>
                <a:latin typeface="Calibri"/>
              </a:rPr>
              <a:t>Reproducir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9CED6"/>
                </a:solidFill>
                <a:latin typeface="Calibri"/>
              </a:rPr>
              <a:t>python embed_subgraphs.py  (recalcula los 3 embeddings sin re-descargar la red vial).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80"/>
                </a:solidFill>
                <a:latin typeface="Calibri"/>
              </a:rPr>
              <a:t>Refs: GL2Vec (ICONIP 2019) · FEATHER (CIKM 2020) · DHC-E (arXiv:2108.02113) · GCN/ST-GCN (Kipf &amp; Welling 2017; Fan, Hu &amp; Hu, Big Data Cogn. Comput. 2025, 9(7), 179).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